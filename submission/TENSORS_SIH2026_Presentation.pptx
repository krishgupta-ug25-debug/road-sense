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2"/>
    </p:embeddedFont>
    <p:embeddedFont>
      <p:font typeface="Calistoga" charset="1" panose="00000500000000000000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jpe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https://docs.ultralytics.com/tasks/detect/?utm_source=chatgpt.com" TargetMode="External" Type="http://schemas.openxmlformats.org/officeDocument/2006/relationships/hyperlink"/><Relationship Id="rId8" Target="https://docs.opencv.org/4.x/?utm_source=chatgpt.com" TargetMode="External" Type="http://schemas.openxmlformats.org/officeDocument/2006/relationships/hyperlink"/><Relationship Id="rId9" Target="https://roboflow.com/?utm_source=chatgpt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40">
            <a:off x="1190615" y="9209408"/>
            <a:ext cx="159067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62396" y="200939"/>
            <a:ext cx="14672177" cy="148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b="true" sz="6480" spc="4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SMART INDIA HACKATHON 2026 </a:t>
            </a:r>
          </a:p>
          <a:p>
            <a:pPr algn="l">
              <a:lnSpc>
                <a:spcPts val="777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62396" y="1591056"/>
            <a:ext cx="10139667" cy="665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895" indent="-361948" lvl="1">
              <a:lnSpc>
                <a:spcPts val="527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Problem Statement ID :  SIH26124</a:t>
            </a:r>
          </a:p>
          <a:p>
            <a:pPr algn="l" marL="723895" indent="-361948" lvl="1">
              <a:lnSpc>
                <a:spcPts val="527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Problem Statement Title : AI Powered Mobile Urban Intelligence Platform Using Public Transport Fleet </a:t>
            </a:r>
          </a:p>
          <a:p>
            <a:pPr algn="l" marL="723895" indent="-361948" lvl="1">
              <a:lnSpc>
                <a:spcPts val="527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Theme : Smart Automation</a:t>
            </a:r>
          </a:p>
          <a:p>
            <a:pPr algn="l" marL="723895" indent="-361948" lvl="1">
              <a:lnSpc>
                <a:spcPts val="527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PS Category : Software </a:t>
            </a:r>
          </a:p>
          <a:p>
            <a:pPr algn="l" marL="723895" indent="-361948" lvl="1">
              <a:lnSpc>
                <a:spcPts val="527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Team Name : TENSORS</a:t>
            </a:r>
          </a:p>
          <a:p>
            <a:pPr algn="l" marL="723895" indent="-361948" lvl="1">
              <a:lnSpc>
                <a:spcPts val="527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College Name : Netaji Subhash University of Technology</a:t>
            </a:r>
          </a:p>
          <a:p>
            <a:pPr algn="l" marL="723895" indent="-361948" lvl="1">
              <a:lnSpc>
                <a:spcPts val="527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4761845" y="0"/>
            <a:ext cx="3313747" cy="1684020"/>
            <a:chOff x="0" y="0"/>
            <a:chExt cx="5733815" cy="29138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33878" cy="2913855"/>
            </a:xfrm>
            <a:custGeom>
              <a:avLst/>
              <a:gdLst/>
              <a:ahLst/>
              <a:cxnLst/>
              <a:rect r="r" b="b" t="t" l="l"/>
              <a:pathLst>
                <a:path h="2913855" w="5733878">
                  <a:moveTo>
                    <a:pt x="0" y="0"/>
                  </a:moveTo>
                  <a:lnTo>
                    <a:pt x="5733878" y="0"/>
                  </a:lnTo>
                  <a:lnTo>
                    <a:pt x="5733878" y="2913855"/>
                  </a:lnTo>
                  <a:lnTo>
                    <a:pt x="0" y="29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0" t="0" r="-25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454033" y="2849577"/>
            <a:ext cx="4805267" cy="5139357"/>
            <a:chOff x="0" y="0"/>
            <a:chExt cx="6407023" cy="6852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49475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775786" y="1472140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92988" y="1888017"/>
            <a:ext cx="15954379" cy="66551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54682" y="9143457"/>
            <a:ext cx="15906748" cy="19156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07104" y="2140306"/>
            <a:ext cx="3611899" cy="2052209"/>
            <a:chOff x="0" y="0"/>
            <a:chExt cx="4815865" cy="27362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5840" cy="2736342"/>
            </a:xfrm>
            <a:custGeom>
              <a:avLst/>
              <a:gdLst/>
              <a:ahLst/>
              <a:cxnLst/>
              <a:rect r="r" b="b" t="t" l="l"/>
              <a:pathLst>
                <a:path h="2736342" w="4815840">
                  <a:moveTo>
                    <a:pt x="0" y="0"/>
                  </a:moveTo>
                  <a:lnTo>
                    <a:pt x="4815840" y="0"/>
                  </a:lnTo>
                  <a:lnTo>
                    <a:pt x="4815840" y="2736342"/>
                  </a:lnTo>
                  <a:lnTo>
                    <a:pt x="0" y="2736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096" r="0" b="-909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7104" y="6079931"/>
            <a:ext cx="3611899" cy="2052209"/>
            <a:chOff x="0" y="0"/>
            <a:chExt cx="4815865" cy="2736278"/>
          </a:xfrm>
        </p:grpSpPr>
        <p:sp>
          <p:nvSpPr>
            <p:cNvPr name="Freeform 7" id="7"/>
            <p:cNvSpPr/>
            <p:nvPr/>
          </p:nvSpPr>
          <p:spPr>
            <a:xfrm flipH="false" flipV="false" rot="-30000">
              <a:off x="-11848" y="-20961"/>
              <a:ext cx="4839536" cy="2778263"/>
            </a:xfrm>
            <a:custGeom>
              <a:avLst/>
              <a:gdLst/>
              <a:ahLst/>
              <a:cxnLst/>
              <a:rect r="r" b="b" t="t" l="l"/>
              <a:pathLst>
                <a:path h="2778263" w="4839536">
                  <a:moveTo>
                    <a:pt x="23879" y="0"/>
                  </a:moveTo>
                  <a:lnTo>
                    <a:pt x="4839536" y="42026"/>
                  </a:lnTo>
                  <a:lnTo>
                    <a:pt x="4815657" y="2778264"/>
                  </a:lnTo>
                  <a:lnTo>
                    <a:pt x="0" y="2736238"/>
                  </a:lnTo>
                  <a:lnTo>
                    <a:pt x="23879" y="0"/>
                  </a:lnTo>
                  <a:close/>
                </a:path>
              </a:pathLst>
            </a:custGeom>
            <a:blipFill>
              <a:blip r:embed="rId3"/>
              <a:stretch>
                <a:fillRect l="-4011" t="-50" r="-642" b="-30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14880" y="2140306"/>
            <a:ext cx="3611899" cy="2056619"/>
            <a:chOff x="0" y="0"/>
            <a:chExt cx="4815865" cy="2742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0" cy="2742184"/>
            </a:xfrm>
            <a:custGeom>
              <a:avLst/>
              <a:gdLst/>
              <a:ahLst/>
              <a:cxnLst/>
              <a:rect r="r" b="b" t="t" l="l"/>
              <a:pathLst>
                <a:path h="2742184" w="4815840">
                  <a:moveTo>
                    <a:pt x="0" y="0"/>
                  </a:moveTo>
                  <a:lnTo>
                    <a:pt x="4815840" y="0"/>
                  </a:lnTo>
                  <a:lnTo>
                    <a:pt x="4815840" y="2742184"/>
                  </a:lnTo>
                  <a:lnTo>
                    <a:pt x="0" y="2742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94" r="0" b="-889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138128" y="6075521"/>
            <a:ext cx="3611899" cy="2056619"/>
            <a:chOff x="0" y="0"/>
            <a:chExt cx="4815865" cy="27421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5840" cy="2742184"/>
            </a:xfrm>
            <a:custGeom>
              <a:avLst/>
              <a:gdLst/>
              <a:ahLst/>
              <a:cxnLst/>
              <a:rect r="r" b="b" t="t" l="l"/>
              <a:pathLst>
                <a:path h="2742184" w="4815840">
                  <a:moveTo>
                    <a:pt x="0" y="0"/>
                  </a:moveTo>
                  <a:lnTo>
                    <a:pt x="4815840" y="0"/>
                  </a:lnTo>
                  <a:lnTo>
                    <a:pt x="4815840" y="2742184"/>
                  </a:lnTo>
                  <a:lnTo>
                    <a:pt x="0" y="2742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43" t="0" r="-154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45904" y="2135896"/>
            <a:ext cx="3598431" cy="2056619"/>
            <a:chOff x="0" y="0"/>
            <a:chExt cx="4797908" cy="27421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97933" cy="2742184"/>
            </a:xfrm>
            <a:custGeom>
              <a:avLst/>
              <a:gdLst/>
              <a:ahLst/>
              <a:cxnLst/>
              <a:rect r="r" b="b" t="t" l="l"/>
              <a:pathLst>
                <a:path h="2742184" w="4797933">
                  <a:moveTo>
                    <a:pt x="0" y="0"/>
                  </a:moveTo>
                  <a:lnTo>
                    <a:pt x="4797933" y="0"/>
                  </a:lnTo>
                  <a:lnTo>
                    <a:pt x="4797933" y="2742184"/>
                  </a:lnTo>
                  <a:lnTo>
                    <a:pt x="0" y="2742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965" r="0" b="-79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69152" y="6079931"/>
            <a:ext cx="3675183" cy="2056619"/>
            <a:chOff x="0" y="0"/>
            <a:chExt cx="4900244" cy="27421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00295" cy="2742184"/>
            </a:xfrm>
            <a:custGeom>
              <a:avLst/>
              <a:gdLst/>
              <a:ahLst/>
              <a:cxnLst/>
              <a:rect r="r" b="b" t="t" l="l"/>
              <a:pathLst>
                <a:path h="2742184" w="4900295">
                  <a:moveTo>
                    <a:pt x="0" y="0"/>
                  </a:moveTo>
                  <a:lnTo>
                    <a:pt x="4900295" y="0"/>
                  </a:lnTo>
                  <a:lnTo>
                    <a:pt x="4900295" y="2742184"/>
                  </a:lnTo>
                  <a:lnTo>
                    <a:pt x="0" y="2742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174" r="0" b="-717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30723" y="2159356"/>
            <a:ext cx="3598278" cy="2056619"/>
            <a:chOff x="0" y="0"/>
            <a:chExt cx="4797704" cy="27421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97679" cy="2742184"/>
            </a:xfrm>
            <a:custGeom>
              <a:avLst/>
              <a:gdLst/>
              <a:ahLst/>
              <a:cxnLst/>
              <a:rect r="r" b="b" t="t" l="l"/>
              <a:pathLst>
                <a:path h="2742184" w="4797679">
                  <a:moveTo>
                    <a:pt x="0" y="0"/>
                  </a:moveTo>
                  <a:lnTo>
                    <a:pt x="4797679" y="0"/>
                  </a:lnTo>
                  <a:lnTo>
                    <a:pt x="4797679" y="2742184"/>
                  </a:lnTo>
                  <a:lnTo>
                    <a:pt x="0" y="2742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716" r="0" b="-571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63460" y="6079931"/>
            <a:ext cx="3598278" cy="2056619"/>
            <a:chOff x="0" y="0"/>
            <a:chExt cx="4797704" cy="27421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97679" cy="2742184"/>
            </a:xfrm>
            <a:custGeom>
              <a:avLst/>
              <a:gdLst/>
              <a:ahLst/>
              <a:cxnLst/>
              <a:rect r="r" b="b" t="t" l="l"/>
              <a:pathLst>
                <a:path h="2742184" w="4797679">
                  <a:moveTo>
                    <a:pt x="0" y="0"/>
                  </a:moveTo>
                  <a:lnTo>
                    <a:pt x="4797679" y="0"/>
                  </a:lnTo>
                  <a:lnTo>
                    <a:pt x="4797679" y="2742184"/>
                  </a:lnTo>
                  <a:lnTo>
                    <a:pt x="0" y="2742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53" r="0" b="-1565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165235"/>
            <a:ext cx="1530353" cy="592064"/>
            <a:chOff x="0" y="0"/>
            <a:chExt cx="403056" cy="1559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3056" cy="155935"/>
            </a:xfrm>
            <a:custGeom>
              <a:avLst/>
              <a:gdLst/>
              <a:ahLst/>
              <a:cxnLst/>
              <a:rect r="r" b="b" t="t" l="l"/>
              <a:pathLst>
                <a:path h="155935" w="403056">
                  <a:moveTo>
                    <a:pt x="77967" y="0"/>
                  </a:moveTo>
                  <a:lnTo>
                    <a:pt x="325089" y="0"/>
                  </a:lnTo>
                  <a:cubicBezTo>
                    <a:pt x="345767" y="0"/>
                    <a:pt x="365598" y="8214"/>
                    <a:pt x="380220" y="22836"/>
                  </a:cubicBezTo>
                  <a:cubicBezTo>
                    <a:pt x="394842" y="37458"/>
                    <a:pt x="403056" y="57289"/>
                    <a:pt x="403056" y="77967"/>
                  </a:cubicBezTo>
                  <a:lnTo>
                    <a:pt x="403056" y="77967"/>
                  </a:lnTo>
                  <a:cubicBezTo>
                    <a:pt x="403056" y="98646"/>
                    <a:pt x="394842" y="118477"/>
                    <a:pt x="380220" y="133099"/>
                  </a:cubicBezTo>
                  <a:cubicBezTo>
                    <a:pt x="365598" y="147720"/>
                    <a:pt x="345767" y="155935"/>
                    <a:pt x="325089" y="155935"/>
                  </a:cubicBezTo>
                  <a:lnTo>
                    <a:pt x="77967" y="155935"/>
                  </a:lnTo>
                  <a:cubicBezTo>
                    <a:pt x="57289" y="155935"/>
                    <a:pt x="37458" y="147720"/>
                    <a:pt x="22836" y="133099"/>
                  </a:cubicBezTo>
                  <a:cubicBezTo>
                    <a:pt x="8214" y="118477"/>
                    <a:pt x="0" y="98646"/>
                    <a:pt x="0" y="77967"/>
                  </a:cubicBezTo>
                  <a:lnTo>
                    <a:pt x="0" y="77967"/>
                  </a:lnTo>
                  <a:cubicBezTo>
                    <a:pt x="0" y="57289"/>
                    <a:pt x="8214" y="37458"/>
                    <a:pt x="22836" y="22836"/>
                  </a:cubicBezTo>
                  <a:cubicBezTo>
                    <a:pt x="37458" y="8214"/>
                    <a:pt x="57289" y="0"/>
                    <a:pt x="77967" y="0"/>
                  </a:cubicBezTo>
                  <a:close/>
                </a:path>
              </a:pathLst>
            </a:custGeom>
            <a:solidFill>
              <a:srgbClr val="FFB02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03056" cy="165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TENSORS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-1718378" y="394592"/>
            <a:ext cx="17892584" cy="11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 TITLE : RoadSense -Edge-AI </a:t>
            </a:r>
          </a:p>
          <a:p>
            <a:pPr algn="ctr">
              <a:lnSpc>
                <a:spcPts val="4512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Potholes and Accident Detection for Public Transport Fleets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61845" y="0"/>
            <a:ext cx="3313747" cy="1684020"/>
            <a:chOff x="0" y="0"/>
            <a:chExt cx="5733815" cy="29138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33878" cy="2913855"/>
            </a:xfrm>
            <a:custGeom>
              <a:avLst/>
              <a:gdLst/>
              <a:ahLst/>
              <a:cxnLst/>
              <a:rect r="r" b="b" t="t" l="l"/>
              <a:pathLst>
                <a:path h="2913855" w="5733878">
                  <a:moveTo>
                    <a:pt x="0" y="0"/>
                  </a:moveTo>
                  <a:lnTo>
                    <a:pt x="5733878" y="0"/>
                  </a:lnTo>
                  <a:lnTo>
                    <a:pt x="5733878" y="2913855"/>
                  </a:lnTo>
                  <a:lnTo>
                    <a:pt x="0" y="29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60" t="0" r="-259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26374" y="4456833"/>
            <a:ext cx="350530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Calistoga"/>
                <a:ea typeface="Calistoga"/>
                <a:cs typeface="Calistoga"/>
                <a:sym typeface="Calistoga"/>
              </a:rPr>
              <a:t>Road Defects like path holes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40918" y="4456833"/>
            <a:ext cx="241119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Car accidents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6112" y="5263620"/>
            <a:ext cx="391388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Pothole detected by on-device AI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08773" y="5263620"/>
            <a:ext cx="403522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Accident detected by on-device AI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39030" y="4456833"/>
            <a:ext cx="35053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Calistoga"/>
                <a:ea typeface="Calistoga"/>
                <a:cs typeface="Calistoga"/>
                <a:sym typeface="Calistoga"/>
              </a:rPr>
              <a:t>Public transport fleets as mibile sensors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82150" y="5263620"/>
            <a:ext cx="35053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Calistoga"/>
                <a:ea typeface="Calistoga"/>
                <a:cs typeface="Calistoga"/>
                <a:sym typeface="Calistoga"/>
              </a:rPr>
              <a:t>Existing onborad cameras for road monitoring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23696" y="5247408"/>
            <a:ext cx="35053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Calistoga"/>
                <a:ea typeface="Calistoga"/>
                <a:cs typeface="Calistoga"/>
                <a:sym typeface="Calistoga"/>
              </a:rPr>
              <a:t>Turning road data into actionable insights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23696" y="4456833"/>
            <a:ext cx="35053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Calistoga"/>
                <a:ea typeface="Calistoga"/>
                <a:cs typeface="Calistoga"/>
                <a:sym typeface="Calistoga"/>
              </a:rPr>
              <a:t>Every journey becomes source of road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40">
            <a:off x="1190615" y="9209408"/>
            <a:ext cx="159067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65235"/>
            <a:ext cx="1530353" cy="592064"/>
            <a:chOff x="0" y="0"/>
            <a:chExt cx="403056" cy="1559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3056" cy="155935"/>
            </a:xfrm>
            <a:custGeom>
              <a:avLst/>
              <a:gdLst/>
              <a:ahLst/>
              <a:cxnLst/>
              <a:rect r="r" b="b" t="t" l="l"/>
              <a:pathLst>
                <a:path h="155935" w="403056">
                  <a:moveTo>
                    <a:pt x="77967" y="0"/>
                  </a:moveTo>
                  <a:lnTo>
                    <a:pt x="325089" y="0"/>
                  </a:lnTo>
                  <a:cubicBezTo>
                    <a:pt x="345767" y="0"/>
                    <a:pt x="365598" y="8214"/>
                    <a:pt x="380220" y="22836"/>
                  </a:cubicBezTo>
                  <a:cubicBezTo>
                    <a:pt x="394842" y="37458"/>
                    <a:pt x="403056" y="57289"/>
                    <a:pt x="403056" y="77967"/>
                  </a:cubicBezTo>
                  <a:lnTo>
                    <a:pt x="403056" y="77967"/>
                  </a:lnTo>
                  <a:cubicBezTo>
                    <a:pt x="403056" y="98646"/>
                    <a:pt x="394842" y="118477"/>
                    <a:pt x="380220" y="133099"/>
                  </a:cubicBezTo>
                  <a:cubicBezTo>
                    <a:pt x="365598" y="147720"/>
                    <a:pt x="345767" y="155935"/>
                    <a:pt x="325089" y="155935"/>
                  </a:cubicBezTo>
                  <a:lnTo>
                    <a:pt x="77967" y="155935"/>
                  </a:lnTo>
                  <a:cubicBezTo>
                    <a:pt x="57289" y="155935"/>
                    <a:pt x="37458" y="147720"/>
                    <a:pt x="22836" y="133099"/>
                  </a:cubicBezTo>
                  <a:cubicBezTo>
                    <a:pt x="8214" y="118477"/>
                    <a:pt x="0" y="98646"/>
                    <a:pt x="0" y="77967"/>
                  </a:cubicBezTo>
                  <a:lnTo>
                    <a:pt x="0" y="77967"/>
                  </a:lnTo>
                  <a:cubicBezTo>
                    <a:pt x="0" y="57289"/>
                    <a:pt x="8214" y="37458"/>
                    <a:pt x="22836" y="22836"/>
                  </a:cubicBezTo>
                  <a:cubicBezTo>
                    <a:pt x="37458" y="8214"/>
                    <a:pt x="57289" y="0"/>
                    <a:pt x="77967" y="0"/>
                  </a:cubicBezTo>
                  <a:close/>
                </a:path>
              </a:pathLst>
            </a:custGeom>
            <a:solidFill>
              <a:srgbClr val="FFB0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03056" cy="165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TENSORS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61845" y="0"/>
            <a:ext cx="3313747" cy="1684020"/>
            <a:chOff x="0" y="0"/>
            <a:chExt cx="5733815" cy="29138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33878" cy="2913855"/>
            </a:xfrm>
            <a:custGeom>
              <a:avLst/>
              <a:gdLst/>
              <a:ahLst/>
              <a:cxnLst/>
              <a:rect r="r" b="b" t="t" l="l"/>
              <a:pathLst>
                <a:path h="2913855" w="5733878">
                  <a:moveTo>
                    <a:pt x="0" y="0"/>
                  </a:moveTo>
                  <a:lnTo>
                    <a:pt x="5733878" y="0"/>
                  </a:lnTo>
                  <a:lnTo>
                    <a:pt x="5733878" y="2913855"/>
                  </a:lnTo>
                  <a:lnTo>
                    <a:pt x="0" y="29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0" t="0" r="-259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192988" y="1888017"/>
            <a:ext cx="1602541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28628" y="2616255"/>
            <a:ext cx="4673510" cy="2024206"/>
            <a:chOff x="0" y="0"/>
            <a:chExt cx="635000" cy="2750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275033"/>
            </a:xfrm>
            <a:custGeom>
              <a:avLst/>
              <a:gdLst/>
              <a:ahLst/>
              <a:cxnLst/>
              <a:rect r="r" b="b" t="t" l="l"/>
              <a:pathLst>
                <a:path h="275033" w="635000">
                  <a:moveTo>
                    <a:pt x="32355" y="0"/>
                  </a:moveTo>
                  <a:lnTo>
                    <a:pt x="602645" y="0"/>
                  </a:lnTo>
                  <a:cubicBezTo>
                    <a:pt x="620514" y="0"/>
                    <a:pt x="635000" y="14486"/>
                    <a:pt x="635000" y="32355"/>
                  </a:cubicBezTo>
                  <a:lnTo>
                    <a:pt x="635000" y="242679"/>
                  </a:lnTo>
                  <a:cubicBezTo>
                    <a:pt x="635000" y="260548"/>
                    <a:pt x="620514" y="275033"/>
                    <a:pt x="602645" y="275033"/>
                  </a:cubicBezTo>
                  <a:lnTo>
                    <a:pt x="32355" y="275033"/>
                  </a:lnTo>
                  <a:cubicBezTo>
                    <a:pt x="23774" y="275033"/>
                    <a:pt x="15544" y="271624"/>
                    <a:pt x="9476" y="265557"/>
                  </a:cubicBezTo>
                  <a:cubicBezTo>
                    <a:pt x="3409" y="259489"/>
                    <a:pt x="0" y="251260"/>
                    <a:pt x="0" y="242679"/>
                  </a:cubicBezTo>
                  <a:lnTo>
                    <a:pt x="0" y="32355"/>
                  </a:lnTo>
                  <a:cubicBezTo>
                    <a:pt x="0" y="14486"/>
                    <a:pt x="14486" y="0"/>
                    <a:pt x="32355" y="0"/>
                  </a:cubicBezTo>
                  <a:close/>
                </a:path>
              </a:pathLst>
            </a:custGeom>
            <a:solidFill>
              <a:srgbClr val="1D9E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635000" cy="28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Bus Camera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Captures live footage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5302361" y="3635671"/>
            <a:ext cx="1632223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464371" y="3645196"/>
            <a:ext cx="476192" cy="2519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473694" y="3374462"/>
            <a:ext cx="469799" cy="2636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6925261" y="2642618"/>
            <a:ext cx="4673510" cy="2024206"/>
            <a:chOff x="0" y="0"/>
            <a:chExt cx="635000" cy="2750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" cy="275033"/>
            </a:xfrm>
            <a:custGeom>
              <a:avLst/>
              <a:gdLst/>
              <a:ahLst/>
              <a:cxnLst/>
              <a:rect r="r" b="b" t="t" l="l"/>
              <a:pathLst>
                <a:path h="275033" w="635000">
                  <a:moveTo>
                    <a:pt x="32355" y="0"/>
                  </a:moveTo>
                  <a:lnTo>
                    <a:pt x="602645" y="0"/>
                  </a:lnTo>
                  <a:cubicBezTo>
                    <a:pt x="620514" y="0"/>
                    <a:pt x="635000" y="14486"/>
                    <a:pt x="635000" y="32355"/>
                  </a:cubicBezTo>
                  <a:lnTo>
                    <a:pt x="635000" y="242679"/>
                  </a:lnTo>
                  <a:cubicBezTo>
                    <a:pt x="635000" y="260548"/>
                    <a:pt x="620514" y="275033"/>
                    <a:pt x="602645" y="275033"/>
                  </a:cubicBezTo>
                  <a:lnTo>
                    <a:pt x="32355" y="275033"/>
                  </a:lnTo>
                  <a:cubicBezTo>
                    <a:pt x="23774" y="275033"/>
                    <a:pt x="15544" y="271624"/>
                    <a:pt x="9476" y="265557"/>
                  </a:cubicBezTo>
                  <a:cubicBezTo>
                    <a:pt x="3409" y="259489"/>
                    <a:pt x="0" y="251260"/>
                    <a:pt x="0" y="242679"/>
                  </a:cubicBezTo>
                  <a:lnTo>
                    <a:pt x="0" y="32355"/>
                  </a:lnTo>
                  <a:cubicBezTo>
                    <a:pt x="0" y="14486"/>
                    <a:pt x="14486" y="0"/>
                    <a:pt x="32355" y="0"/>
                  </a:cubicBezTo>
                  <a:close/>
                </a:path>
              </a:pathLst>
            </a:custGeom>
            <a:solidFill>
              <a:srgbClr val="1D9E7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35000" cy="28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On-device YOLO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Detects pothole or accident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598938" y="3588810"/>
            <a:ext cx="1632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2760743" y="3318076"/>
            <a:ext cx="469799" cy="2636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2723598" y="3596124"/>
            <a:ext cx="476192" cy="2519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3218021" y="2642618"/>
            <a:ext cx="4673510" cy="2024206"/>
            <a:chOff x="0" y="0"/>
            <a:chExt cx="635000" cy="2750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275033"/>
            </a:xfrm>
            <a:custGeom>
              <a:avLst/>
              <a:gdLst/>
              <a:ahLst/>
              <a:cxnLst/>
              <a:rect r="r" b="b" t="t" l="l"/>
              <a:pathLst>
                <a:path h="275033" w="635000">
                  <a:moveTo>
                    <a:pt x="32355" y="0"/>
                  </a:moveTo>
                  <a:lnTo>
                    <a:pt x="602645" y="0"/>
                  </a:lnTo>
                  <a:cubicBezTo>
                    <a:pt x="620514" y="0"/>
                    <a:pt x="635000" y="14486"/>
                    <a:pt x="635000" y="32355"/>
                  </a:cubicBezTo>
                  <a:lnTo>
                    <a:pt x="635000" y="242679"/>
                  </a:lnTo>
                  <a:cubicBezTo>
                    <a:pt x="635000" y="260548"/>
                    <a:pt x="620514" y="275033"/>
                    <a:pt x="602645" y="275033"/>
                  </a:cubicBezTo>
                  <a:lnTo>
                    <a:pt x="32355" y="275033"/>
                  </a:lnTo>
                  <a:cubicBezTo>
                    <a:pt x="23774" y="275033"/>
                    <a:pt x="15544" y="271624"/>
                    <a:pt x="9476" y="265557"/>
                  </a:cubicBezTo>
                  <a:cubicBezTo>
                    <a:pt x="3409" y="259489"/>
                    <a:pt x="0" y="251260"/>
                    <a:pt x="0" y="242679"/>
                  </a:cubicBezTo>
                  <a:lnTo>
                    <a:pt x="0" y="32355"/>
                  </a:lnTo>
                  <a:cubicBezTo>
                    <a:pt x="0" y="14486"/>
                    <a:pt x="14486" y="0"/>
                    <a:pt x="32355" y="0"/>
                  </a:cubicBezTo>
                  <a:close/>
                </a:path>
              </a:pathLst>
            </a:custGeom>
            <a:solidFill>
              <a:srgbClr val="1D9E7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35000" cy="28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Temporal Voting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Confirms real detections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5603793" y="4640609"/>
            <a:ext cx="0" cy="16323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5124671" y="5992685"/>
            <a:ext cx="469799" cy="2636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15612701" y="6009523"/>
            <a:ext cx="476192" cy="2519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218021" y="6284905"/>
            <a:ext cx="4673510" cy="2024206"/>
            <a:chOff x="0" y="0"/>
            <a:chExt cx="635000" cy="2750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" cy="275033"/>
            </a:xfrm>
            <a:custGeom>
              <a:avLst/>
              <a:gdLst/>
              <a:ahLst/>
              <a:cxnLst/>
              <a:rect r="r" b="b" t="t" l="l"/>
              <a:pathLst>
                <a:path h="275033" w="635000">
                  <a:moveTo>
                    <a:pt x="32355" y="0"/>
                  </a:moveTo>
                  <a:lnTo>
                    <a:pt x="602645" y="0"/>
                  </a:lnTo>
                  <a:cubicBezTo>
                    <a:pt x="620514" y="0"/>
                    <a:pt x="635000" y="14486"/>
                    <a:pt x="635000" y="32355"/>
                  </a:cubicBezTo>
                  <a:lnTo>
                    <a:pt x="635000" y="242679"/>
                  </a:lnTo>
                  <a:cubicBezTo>
                    <a:pt x="635000" y="260548"/>
                    <a:pt x="620514" y="275033"/>
                    <a:pt x="602645" y="275033"/>
                  </a:cubicBezTo>
                  <a:lnTo>
                    <a:pt x="32355" y="275033"/>
                  </a:lnTo>
                  <a:cubicBezTo>
                    <a:pt x="23774" y="275033"/>
                    <a:pt x="15544" y="271624"/>
                    <a:pt x="9476" y="265557"/>
                  </a:cubicBezTo>
                  <a:cubicBezTo>
                    <a:pt x="3409" y="259489"/>
                    <a:pt x="0" y="251260"/>
                    <a:pt x="0" y="242679"/>
                  </a:cubicBezTo>
                  <a:lnTo>
                    <a:pt x="0" y="32355"/>
                  </a:lnTo>
                  <a:cubicBezTo>
                    <a:pt x="0" y="14486"/>
                    <a:pt x="14486" y="0"/>
                    <a:pt x="32355" y="0"/>
                  </a:cubicBezTo>
                  <a:close/>
                </a:path>
              </a:pathLst>
            </a:custGeom>
            <a:solidFill>
              <a:srgbClr val="378AD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35000" cy="28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Express and Multer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Receives confirmed event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8851" y="6284905"/>
            <a:ext cx="4673510" cy="2024206"/>
            <a:chOff x="0" y="0"/>
            <a:chExt cx="635000" cy="2750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" cy="275033"/>
            </a:xfrm>
            <a:custGeom>
              <a:avLst/>
              <a:gdLst/>
              <a:ahLst/>
              <a:cxnLst/>
              <a:rect r="r" b="b" t="t" l="l"/>
              <a:pathLst>
                <a:path h="275033" w="635000">
                  <a:moveTo>
                    <a:pt x="32355" y="0"/>
                  </a:moveTo>
                  <a:lnTo>
                    <a:pt x="602645" y="0"/>
                  </a:lnTo>
                  <a:cubicBezTo>
                    <a:pt x="620514" y="0"/>
                    <a:pt x="635000" y="14486"/>
                    <a:pt x="635000" y="32355"/>
                  </a:cubicBezTo>
                  <a:lnTo>
                    <a:pt x="635000" y="242679"/>
                  </a:lnTo>
                  <a:cubicBezTo>
                    <a:pt x="635000" y="260548"/>
                    <a:pt x="620514" y="275033"/>
                    <a:pt x="602645" y="275033"/>
                  </a:cubicBezTo>
                  <a:lnTo>
                    <a:pt x="32355" y="275033"/>
                  </a:lnTo>
                  <a:cubicBezTo>
                    <a:pt x="23774" y="275033"/>
                    <a:pt x="15544" y="271624"/>
                    <a:pt x="9476" y="265557"/>
                  </a:cubicBezTo>
                  <a:cubicBezTo>
                    <a:pt x="3409" y="259489"/>
                    <a:pt x="0" y="251260"/>
                    <a:pt x="0" y="242679"/>
                  </a:cubicBezTo>
                  <a:lnTo>
                    <a:pt x="0" y="32355"/>
                  </a:lnTo>
                  <a:cubicBezTo>
                    <a:pt x="0" y="14486"/>
                    <a:pt x="14486" y="0"/>
                    <a:pt x="32355" y="0"/>
                  </a:cubicBezTo>
                  <a:close/>
                </a:path>
              </a:pathLst>
            </a:custGeom>
            <a:solidFill>
              <a:srgbClr val="378AD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35000" cy="28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Live Dashboard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Displays confirmed detections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25261" y="6284905"/>
            <a:ext cx="4673510" cy="2024206"/>
            <a:chOff x="0" y="0"/>
            <a:chExt cx="635000" cy="27503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" cy="275033"/>
            </a:xfrm>
            <a:custGeom>
              <a:avLst/>
              <a:gdLst/>
              <a:ahLst/>
              <a:cxnLst/>
              <a:rect r="r" b="b" t="t" l="l"/>
              <a:pathLst>
                <a:path h="275033" w="635000">
                  <a:moveTo>
                    <a:pt x="32355" y="0"/>
                  </a:moveTo>
                  <a:lnTo>
                    <a:pt x="602645" y="0"/>
                  </a:lnTo>
                  <a:cubicBezTo>
                    <a:pt x="620514" y="0"/>
                    <a:pt x="635000" y="14486"/>
                    <a:pt x="635000" y="32355"/>
                  </a:cubicBezTo>
                  <a:lnTo>
                    <a:pt x="635000" y="242679"/>
                  </a:lnTo>
                  <a:cubicBezTo>
                    <a:pt x="635000" y="260548"/>
                    <a:pt x="620514" y="275033"/>
                    <a:pt x="602645" y="275033"/>
                  </a:cubicBezTo>
                  <a:lnTo>
                    <a:pt x="32355" y="275033"/>
                  </a:lnTo>
                  <a:cubicBezTo>
                    <a:pt x="23774" y="275033"/>
                    <a:pt x="15544" y="271624"/>
                    <a:pt x="9476" y="265557"/>
                  </a:cubicBezTo>
                  <a:cubicBezTo>
                    <a:pt x="3409" y="259489"/>
                    <a:pt x="0" y="251260"/>
                    <a:pt x="0" y="242679"/>
                  </a:cubicBezTo>
                  <a:lnTo>
                    <a:pt x="0" y="32355"/>
                  </a:lnTo>
                  <a:cubicBezTo>
                    <a:pt x="0" y="14486"/>
                    <a:pt x="14486" y="0"/>
                    <a:pt x="32355" y="0"/>
                  </a:cubicBezTo>
                  <a:close/>
                </a:path>
              </a:pathLst>
            </a:custGeom>
            <a:solidFill>
              <a:srgbClr val="378AD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35000" cy="284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MongoDB and ImageKit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Stores record and image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1603895" y="7297008"/>
            <a:ext cx="1632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11598994" y="3579285"/>
            <a:ext cx="1632223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5308228" y="7316058"/>
            <a:ext cx="1632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5311462" y="7313620"/>
            <a:ext cx="469799" cy="2636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11608094" y="7297008"/>
            <a:ext cx="469799" cy="2636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1592793" y="7047303"/>
            <a:ext cx="476192" cy="2519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5296160" y="7047303"/>
            <a:ext cx="476192" cy="2519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-1473865" y="431457"/>
            <a:ext cx="17892584" cy="11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APPROACH -&gt; Technologies: </a:t>
            </a:r>
          </a:p>
          <a:p>
            <a:pPr algn="ctr">
              <a:lnSpc>
                <a:spcPts val="4512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Python, OpenCV, Ultralytics YOLO, Node.js, Express, MongoDB, ImageKit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40">
            <a:off x="1190615" y="9209408"/>
            <a:ext cx="159067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114584" y="2163756"/>
            <a:ext cx="11647261" cy="6913007"/>
            <a:chOff x="0" y="0"/>
            <a:chExt cx="15529681" cy="92173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29669" cy="9217406"/>
            </a:xfrm>
            <a:custGeom>
              <a:avLst/>
              <a:gdLst/>
              <a:ahLst/>
              <a:cxnLst/>
              <a:rect r="r" b="b" t="t" l="l"/>
              <a:pathLst>
                <a:path h="9217406" w="15529669">
                  <a:moveTo>
                    <a:pt x="0" y="0"/>
                  </a:moveTo>
                  <a:lnTo>
                    <a:pt x="15529669" y="0"/>
                  </a:lnTo>
                  <a:lnTo>
                    <a:pt x="15529669" y="9217406"/>
                  </a:lnTo>
                  <a:lnTo>
                    <a:pt x="0" y="9217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7" r="0" b="-23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65235"/>
            <a:ext cx="1530353" cy="592064"/>
            <a:chOff x="0" y="0"/>
            <a:chExt cx="403056" cy="1559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056" cy="155935"/>
            </a:xfrm>
            <a:custGeom>
              <a:avLst/>
              <a:gdLst/>
              <a:ahLst/>
              <a:cxnLst/>
              <a:rect r="r" b="b" t="t" l="l"/>
              <a:pathLst>
                <a:path h="155935" w="403056">
                  <a:moveTo>
                    <a:pt x="77967" y="0"/>
                  </a:moveTo>
                  <a:lnTo>
                    <a:pt x="325089" y="0"/>
                  </a:lnTo>
                  <a:cubicBezTo>
                    <a:pt x="345767" y="0"/>
                    <a:pt x="365598" y="8214"/>
                    <a:pt x="380220" y="22836"/>
                  </a:cubicBezTo>
                  <a:cubicBezTo>
                    <a:pt x="394842" y="37458"/>
                    <a:pt x="403056" y="57289"/>
                    <a:pt x="403056" y="77967"/>
                  </a:cubicBezTo>
                  <a:lnTo>
                    <a:pt x="403056" y="77967"/>
                  </a:lnTo>
                  <a:cubicBezTo>
                    <a:pt x="403056" y="98646"/>
                    <a:pt x="394842" y="118477"/>
                    <a:pt x="380220" y="133099"/>
                  </a:cubicBezTo>
                  <a:cubicBezTo>
                    <a:pt x="365598" y="147720"/>
                    <a:pt x="345767" y="155935"/>
                    <a:pt x="325089" y="155935"/>
                  </a:cubicBezTo>
                  <a:lnTo>
                    <a:pt x="77967" y="155935"/>
                  </a:lnTo>
                  <a:cubicBezTo>
                    <a:pt x="57289" y="155935"/>
                    <a:pt x="37458" y="147720"/>
                    <a:pt x="22836" y="133099"/>
                  </a:cubicBezTo>
                  <a:cubicBezTo>
                    <a:pt x="8214" y="118477"/>
                    <a:pt x="0" y="98646"/>
                    <a:pt x="0" y="77967"/>
                  </a:cubicBezTo>
                  <a:lnTo>
                    <a:pt x="0" y="77967"/>
                  </a:lnTo>
                  <a:cubicBezTo>
                    <a:pt x="0" y="57289"/>
                    <a:pt x="8214" y="37458"/>
                    <a:pt x="22836" y="22836"/>
                  </a:cubicBezTo>
                  <a:cubicBezTo>
                    <a:pt x="37458" y="8214"/>
                    <a:pt x="57289" y="0"/>
                    <a:pt x="77967" y="0"/>
                  </a:cubicBezTo>
                  <a:close/>
                </a:path>
              </a:pathLst>
            </a:custGeom>
            <a:solidFill>
              <a:srgbClr val="FFB0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03056" cy="165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TENSORS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61845" y="0"/>
            <a:ext cx="3313747" cy="1684020"/>
            <a:chOff x="0" y="0"/>
            <a:chExt cx="5733815" cy="29138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33878" cy="2913855"/>
            </a:xfrm>
            <a:custGeom>
              <a:avLst/>
              <a:gdLst/>
              <a:ahLst/>
              <a:cxnLst/>
              <a:rect r="r" b="b" t="t" l="l"/>
              <a:pathLst>
                <a:path h="2913855" w="5733878">
                  <a:moveTo>
                    <a:pt x="0" y="0"/>
                  </a:moveTo>
                  <a:lnTo>
                    <a:pt x="5733878" y="0"/>
                  </a:lnTo>
                  <a:lnTo>
                    <a:pt x="5733878" y="2913855"/>
                  </a:lnTo>
                  <a:lnTo>
                    <a:pt x="0" y="29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0" t="0" r="-259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192919" y="1921292"/>
            <a:ext cx="1595451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473865" y="402882"/>
            <a:ext cx="17892584" cy="8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2"/>
              </a:lnSpc>
            </a:pPr>
            <a:r>
              <a:rPr lang="en-US" sz="47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FEASIBILITY AND VIABILITY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40">
            <a:off x="1190615" y="9209408"/>
            <a:ext cx="159067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65235"/>
            <a:ext cx="1530353" cy="592064"/>
            <a:chOff x="0" y="0"/>
            <a:chExt cx="403056" cy="1559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3056" cy="155935"/>
            </a:xfrm>
            <a:custGeom>
              <a:avLst/>
              <a:gdLst/>
              <a:ahLst/>
              <a:cxnLst/>
              <a:rect r="r" b="b" t="t" l="l"/>
              <a:pathLst>
                <a:path h="155935" w="403056">
                  <a:moveTo>
                    <a:pt x="77967" y="0"/>
                  </a:moveTo>
                  <a:lnTo>
                    <a:pt x="325089" y="0"/>
                  </a:lnTo>
                  <a:cubicBezTo>
                    <a:pt x="345767" y="0"/>
                    <a:pt x="365598" y="8214"/>
                    <a:pt x="380220" y="22836"/>
                  </a:cubicBezTo>
                  <a:cubicBezTo>
                    <a:pt x="394842" y="37458"/>
                    <a:pt x="403056" y="57289"/>
                    <a:pt x="403056" y="77967"/>
                  </a:cubicBezTo>
                  <a:lnTo>
                    <a:pt x="403056" y="77967"/>
                  </a:lnTo>
                  <a:cubicBezTo>
                    <a:pt x="403056" y="98646"/>
                    <a:pt x="394842" y="118477"/>
                    <a:pt x="380220" y="133099"/>
                  </a:cubicBezTo>
                  <a:cubicBezTo>
                    <a:pt x="365598" y="147720"/>
                    <a:pt x="345767" y="155935"/>
                    <a:pt x="325089" y="155935"/>
                  </a:cubicBezTo>
                  <a:lnTo>
                    <a:pt x="77967" y="155935"/>
                  </a:lnTo>
                  <a:cubicBezTo>
                    <a:pt x="57289" y="155935"/>
                    <a:pt x="37458" y="147720"/>
                    <a:pt x="22836" y="133099"/>
                  </a:cubicBezTo>
                  <a:cubicBezTo>
                    <a:pt x="8214" y="118477"/>
                    <a:pt x="0" y="98646"/>
                    <a:pt x="0" y="77967"/>
                  </a:cubicBezTo>
                  <a:lnTo>
                    <a:pt x="0" y="77967"/>
                  </a:lnTo>
                  <a:cubicBezTo>
                    <a:pt x="0" y="57289"/>
                    <a:pt x="8214" y="37458"/>
                    <a:pt x="22836" y="22836"/>
                  </a:cubicBezTo>
                  <a:cubicBezTo>
                    <a:pt x="37458" y="8214"/>
                    <a:pt x="57289" y="0"/>
                    <a:pt x="77967" y="0"/>
                  </a:cubicBezTo>
                  <a:close/>
                </a:path>
              </a:pathLst>
            </a:custGeom>
            <a:solidFill>
              <a:srgbClr val="FFB0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03056" cy="165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TENSORS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61845" y="0"/>
            <a:ext cx="3313747" cy="1684020"/>
            <a:chOff x="0" y="0"/>
            <a:chExt cx="5733815" cy="29138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33878" cy="2913855"/>
            </a:xfrm>
            <a:custGeom>
              <a:avLst/>
              <a:gdLst/>
              <a:ahLst/>
              <a:cxnLst/>
              <a:rect r="r" b="b" t="t" l="l"/>
              <a:pathLst>
                <a:path h="2913855" w="5733878">
                  <a:moveTo>
                    <a:pt x="0" y="0"/>
                  </a:moveTo>
                  <a:lnTo>
                    <a:pt x="5733878" y="0"/>
                  </a:lnTo>
                  <a:lnTo>
                    <a:pt x="5733878" y="2913855"/>
                  </a:lnTo>
                  <a:lnTo>
                    <a:pt x="0" y="29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0" t="0" r="-259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192919" y="1921292"/>
            <a:ext cx="1595451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473865" y="402882"/>
            <a:ext cx="17892584" cy="8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2"/>
              </a:lnSpc>
            </a:pPr>
            <a:r>
              <a:rPr lang="en-US" sz="47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AND BENEFITS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04926" y="2030956"/>
            <a:ext cx="11478148" cy="7063972"/>
            <a:chOff x="0" y="0"/>
            <a:chExt cx="15274895" cy="9400596"/>
          </a:xfrm>
        </p:grpSpPr>
        <p:sp>
          <p:nvSpPr>
            <p:cNvPr name="Freeform 12" id="12"/>
            <p:cNvSpPr/>
            <p:nvPr/>
          </p:nvSpPr>
          <p:spPr>
            <a:xfrm flipH="false" flipV="false" rot="6000">
              <a:off x="-8192" y="-13323"/>
              <a:ext cx="15291241" cy="9427254"/>
            </a:xfrm>
            <a:custGeom>
              <a:avLst/>
              <a:gdLst/>
              <a:ahLst/>
              <a:cxnLst/>
              <a:rect r="r" b="b" t="t" l="l"/>
              <a:pathLst>
                <a:path h="9427254" w="15291241">
                  <a:moveTo>
                    <a:pt x="0" y="26660"/>
                  </a:moveTo>
                  <a:lnTo>
                    <a:pt x="15274834" y="0"/>
                  </a:lnTo>
                  <a:lnTo>
                    <a:pt x="15291241" y="9400594"/>
                  </a:lnTo>
                  <a:lnTo>
                    <a:pt x="16407" y="9427254"/>
                  </a:lnTo>
                  <a:lnTo>
                    <a:pt x="0" y="26660"/>
                  </a:lnTo>
                  <a:close/>
                </a:path>
              </a:pathLst>
            </a:custGeom>
            <a:blipFill>
              <a:blip r:embed="rId3"/>
              <a:stretch>
                <a:fillRect l="0" t="-283" r="-1033" b="-903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40">
            <a:off x="1190615" y="9209408"/>
            <a:ext cx="159067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65235"/>
            <a:ext cx="1530353" cy="592064"/>
            <a:chOff x="0" y="0"/>
            <a:chExt cx="403056" cy="1559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3056" cy="155935"/>
            </a:xfrm>
            <a:custGeom>
              <a:avLst/>
              <a:gdLst/>
              <a:ahLst/>
              <a:cxnLst/>
              <a:rect r="r" b="b" t="t" l="l"/>
              <a:pathLst>
                <a:path h="155935" w="403056">
                  <a:moveTo>
                    <a:pt x="77967" y="0"/>
                  </a:moveTo>
                  <a:lnTo>
                    <a:pt x="325089" y="0"/>
                  </a:lnTo>
                  <a:cubicBezTo>
                    <a:pt x="345767" y="0"/>
                    <a:pt x="365598" y="8214"/>
                    <a:pt x="380220" y="22836"/>
                  </a:cubicBezTo>
                  <a:cubicBezTo>
                    <a:pt x="394842" y="37458"/>
                    <a:pt x="403056" y="57289"/>
                    <a:pt x="403056" y="77967"/>
                  </a:cubicBezTo>
                  <a:lnTo>
                    <a:pt x="403056" y="77967"/>
                  </a:lnTo>
                  <a:cubicBezTo>
                    <a:pt x="403056" y="98646"/>
                    <a:pt x="394842" y="118477"/>
                    <a:pt x="380220" y="133099"/>
                  </a:cubicBezTo>
                  <a:cubicBezTo>
                    <a:pt x="365598" y="147720"/>
                    <a:pt x="345767" y="155935"/>
                    <a:pt x="325089" y="155935"/>
                  </a:cubicBezTo>
                  <a:lnTo>
                    <a:pt x="77967" y="155935"/>
                  </a:lnTo>
                  <a:cubicBezTo>
                    <a:pt x="57289" y="155935"/>
                    <a:pt x="37458" y="147720"/>
                    <a:pt x="22836" y="133099"/>
                  </a:cubicBezTo>
                  <a:cubicBezTo>
                    <a:pt x="8214" y="118477"/>
                    <a:pt x="0" y="98646"/>
                    <a:pt x="0" y="77967"/>
                  </a:cubicBezTo>
                  <a:lnTo>
                    <a:pt x="0" y="77967"/>
                  </a:lnTo>
                  <a:cubicBezTo>
                    <a:pt x="0" y="57289"/>
                    <a:pt x="8214" y="37458"/>
                    <a:pt x="22836" y="22836"/>
                  </a:cubicBezTo>
                  <a:cubicBezTo>
                    <a:pt x="37458" y="8214"/>
                    <a:pt x="57289" y="0"/>
                    <a:pt x="77967" y="0"/>
                  </a:cubicBezTo>
                  <a:close/>
                </a:path>
              </a:pathLst>
            </a:custGeom>
            <a:solidFill>
              <a:srgbClr val="FFB0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03056" cy="165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TENSORS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61845" y="0"/>
            <a:ext cx="3313747" cy="1684020"/>
            <a:chOff x="0" y="0"/>
            <a:chExt cx="5733815" cy="29138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33878" cy="2913855"/>
            </a:xfrm>
            <a:custGeom>
              <a:avLst/>
              <a:gdLst/>
              <a:ahLst/>
              <a:cxnLst/>
              <a:rect r="r" b="b" t="t" l="l"/>
              <a:pathLst>
                <a:path h="2913855" w="5733878">
                  <a:moveTo>
                    <a:pt x="0" y="0"/>
                  </a:moveTo>
                  <a:lnTo>
                    <a:pt x="5733878" y="0"/>
                  </a:lnTo>
                  <a:lnTo>
                    <a:pt x="5733878" y="2913855"/>
                  </a:lnTo>
                  <a:lnTo>
                    <a:pt x="0" y="29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0" t="0" r="-259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192919" y="1921292"/>
            <a:ext cx="1595451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2294354"/>
            <a:ext cx="7822919" cy="1997074"/>
            <a:chOff x="0" y="0"/>
            <a:chExt cx="2060357" cy="5259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0357" cy="525978"/>
            </a:xfrm>
            <a:custGeom>
              <a:avLst/>
              <a:gdLst/>
              <a:ahLst/>
              <a:cxnLst/>
              <a:rect r="r" b="b" t="t" l="l"/>
              <a:pathLst>
                <a:path h="525978" w="2060357">
                  <a:moveTo>
                    <a:pt x="0" y="0"/>
                  </a:moveTo>
                  <a:lnTo>
                    <a:pt x="2060357" y="0"/>
                  </a:lnTo>
                  <a:lnTo>
                    <a:pt x="2060357" y="525978"/>
                  </a:lnTo>
                  <a:lnTo>
                    <a:pt x="0" y="525978"/>
                  </a:lnTo>
                  <a:close/>
                </a:path>
              </a:pathLst>
            </a:custGeom>
            <a:solidFill>
              <a:srgbClr val="C8D1D9"/>
            </a:solidFill>
            <a:ln w="38100" cap="sq">
              <a:solidFill>
                <a:srgbClr val="378AD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60357" cy="53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2349" y="4662903"/>
            <a:ext cx="7822919" cy="2012001"/>
            <a:chOff x="0" y="0"/>
            <a:chExt cx="2060357" cy="5299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60357" cy="529910"/>
            </a:xfrm>
            <a:custGeom>
              <a:avLst/>
              <a:gdLst/>
              <a:ahLst/>
              <a:cxnLst/>
              <a:rect r="r" b="b" t="t" l="l"/>
              <a:pathLst>
                <a:path h="529910" w="2060357">
                  <a:moveTo>
                    <a:pt x="0" y="0"/>
                  </a:moveTo>
                  <a:lnTo>
                    <a:pt x="2060357" y="0"/>
                  </a:lnTo>
                  <a:lnTo>
                    <a:pt x="2060357" y="529910"/>
                  </a:lnTo>
                  <a:lnTo>
                    <a:pt x="0" y="529910"/>
                  </a:lnTo>
                  <a:close/>
                </a:path>
              </a:pathLst>
            </a:custGeom>
            <a:solidFill>
              <a:srgbClr val="C8D1D9"/>
            </a:solidFill>
            <a:ln w="38100" cap="sq">
              <a:solidFill>
                <a:srgbClr val="378AD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60357" cy="53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71624" y="2300703"/>
            <a:ext cx="8051089" cy="2009775"/>
            <a:chOff x="0" y="0"/>
            <a:chExt cx="2120451" cy="5293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0452" cy="529323"/>
            </a:xfrm>
            <a:custGeom>
              <a:avLst/>
              <a:gdLst/>
              <a:ahLst/>
              <a:cxnLst/>
              <a:rect r="r" b="b" t="t" l="l"/>
              <a:pathLst>
                <a:path h="529323" w="2120452">
                  <a:moveTo>
                    <a:pt x="0" y="0"/>
                  </a:moveTo>
                  <a:lnTo>
                    <a:pt x="2120452" y="0"/>
                  </a:lnTo>
                  <a:lnTo>
                    <a:pt x="2120452" y="529323"/>
                  </a:lnTo>
                  <a:lnTo>
                    <a:pt x="0" y="529323"/>
                  </a:lnTo>
                  <a:close/>
                </a:path>
              </a:pathLst>
            </a:custGeom>
            <a:solidFill>
              <a:srgbClr val="C8D1D9"/>
            </a:solidFill>
            <a:ln w="38100" cap="sq">
              <a:solidFill>
                <a:srgbClr val="378AD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20451" cy="53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71624" y="4729578"/>
            <a:ext cx="8051089" cy="2012001"/>
            <a:chOff x="0" y="0"/>
            <a:chExt cx="2120451" cy="5299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0452" cy="529910"/>
            </a:xfrm>
            <a:custGeom>
              <a:avLst/>
              <a:gdLst/>
              <a:ahLst/>
              <a:cxnLst/>
              <a:rect r="r" b="b" t="t" l="l"/>
              <a:pathLst>
                <a:path h="529910" w="2120452">
                  <a:moveTo>
                    <a:pt x="0" y="0"/>
                  </a:moveTo>
                  <a:lnTo>
                    <a:pt x="2120452" y="0"/>
                  </a:lnTo>
                  <a:lnTo>
                    <a:pt x="2120452" y="529910"/>
                  </a:lnTo>
                  <a:lnTo>
                    <a:pt x="0" y="529910"/>
                  </a:lnTo>
                  <a:close/>
                </a:path>
              </a:pathLst>
            </a:custGeom>
            <a:solidFill>
              <a:srgbClr val="C8D1D9"/>
            </a:solidFill>
            <a:ln w="38100" cap="sq">
              <a:solidFill>
                <a:srgbClr val="378A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20451" cy="53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62349" y="2294354"/>
            <a:ext cx="2993409" cy="1995606"/>
          </a:xfrm>
          <a:custGeom>
            <a:avLst/>
            <a:gdLst/>
            <a:ahLst/>
            <a:cxnLst/>
            <a:rect r="r" b="b" t="t" l="l"/>
            <a:pathLst>
              <a:path h="1995606" w="2993409">
                <a:moveTo>
                  <a:pt x="0" y="0"/>
                </a:moveTo>
                <a:lnTo>
                  <a:pt x="2993409" y="0"/>
                </a:lnTo>
                <a:lnTo>
                  <a:pt x="2993409" y="1995606"/>
                </a:lnTo>
                <a:lnTo>
                  <a:pt x="0" y="1995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7" r="-1855" b="-927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71624" y="2345119"/>
            <a:ext cx="3000569" cy="1944841"/>
          </a:xfrm>
          <a:custGeom>
            <a:avLst/>
            <a:gdLst/>
            <a:ahLst/>
            <a:cxnLst/>
            <a:rect r="r" b="b" t="t" l="l"/>
            <a:pathLst>
              <a:path h="1944841" w="3000569">
                <a:moveTo>
                  <a:pt x="0" y="0"/>
                </a:moveTo>
                <a:lnTo>
                  <a:pt x="3000569" y="0"/>
                </a:lnTo>
                <a:lnTo>
                  <a:pt x="3000569" y="1944841"/>
                </a:lnTo>
                <a:lnTo>
                  <a:pt x="0" y="1944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9" t="-1528" r="-3519" b="-8567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62349" y="4730063"/>
            <a:ext cx="2404917" cy="1944841"/>
          </a:xfrm>
          <a:custGeom>
            <a:avLst/>
            <a:gdLst/>
            <a:ahLst/>
            <a:cxnLst/>
            <a:rect r="r" b="b" t="t" l="l"/>
            <a:pathLst>
              <a:path h="1944841" w="2404917">
                <a:moveTo>
                  <a:pt x="0" y="0"/>
                </a:moveTo>
                <a:lnTo>
                  <a:pt x="2404916" y="0"/>
                </a:lnTo>
                <a:lnTo>
                  <a:pt x="2404916" y="1944841"/>
                </a:lnTo>
                <a:lnTo>
                  <a:pt x="0" y="1944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162" t="-1474" r="-12718" b="-1474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499911" y="4786728"/>
            <a:ext cx="2515739" cy="1954851"/>
          </a:xfrm>
          <a:custGeom>
            <a:avLst/>
            <a:gdLst/>
            <a:ahLst/>
            <a:cxnLst/>
            <a:rect r="r" b="b" t="t" l="l"/>
            <a:pathLst>
              <a:path h="1954851" w="2515739">
                <a:moveTo>
                  <a:pt x="0" y="0"/>
                </a:moveTo>
                <a:lnTo>
                  <a:pt x="2515740" y="0"/>
                </a:lnTo>
                <a:lnTo>
                  <a:pt x="2515740" y="1954851"/>
                </a:lnTo>
                <a:lnTo>
                  <a:pt x="0" y="1954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726" t="0" r="-883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030A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1473865" y="402882"/>
            <a:ext cx="17892584" cy="8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2"/>
              </a:lnSpc>
            </a:pPr>
            <a:r>
              <a:rPr lang="en-US" sz="47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AND REFERENCES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81792" y="2400717"/>
            <a:ext cx="78229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YOLO OBJECT DETECTION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72065" y="2923004"/>
            <a:ext cx="424237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  <a:spcBef>
                <a:spcPct val="0"/>
              </a:spcBef>
            </a:pPr>
            <a:r>
              <a:rPr lang="en-US" sz="2717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Real-time detection of objects and events from camera/video stream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31845" y="2400717"/>
            <a:ext cx="78229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POTHOLE DETECTION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50385" y="4786728"/>
            <a:ext cx="78229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OPEN CV -VIDEO PROCESSING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93877" y="4786728"/>
            <a:ext cx="78229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ACCIDENT DETECTION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76346" y="5365691"/>
            <a:ext cx="424237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  <a:spcBef>
                <a:spcPct val="0"/>
              </a:spcBef>
            </a:pPr>
            <a:r>
              <a:rPr lang="en-US" sz="2717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Processes camera/video streams frame by frame for CV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55758" y="5432366"/>
            <a:ext cx="438121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  <a:spcBef>
                <a:spcPct val="0"/>
              </a:spcBef>
            </a:pPr>
            <a:r>
              <a:rPr lang="en-US" sz="2717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Online images collected for accident-detection training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76346" y="2923004"/>
            <a:ext cx="424237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  <a:spcBef>
                <a:spcPct val="0"/>
              </a:spcBef>
            </a:pPr>
            <a:r>
              <a:rPr lang="en-US" sz="2717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Online images collected for pothole-detection training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1238930" y="6741579"/>
            <a:ext cx="17422713" cy="626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5"/>
              </a:lnSpc>
            </a:pPr>
            <a:r>
              <a:rPr lang="en-US" sz="37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[1] YOLO / Ultralytics →  </a:t>
            </a:r>
            <a:r>
              <a:rPr lang="en-US" sz="3703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docs.ultralytics.com/tasks/detect/?utm_source=chatgpt.com"/>
              </a:rPr>
              <a:t>UltralyticsYOLO Documentation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2058981" y="7334504"/>
            <a:ext cx="144311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[2]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OpenCV-&gt; </a:t>
            </a: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docs.opencv.org/4.x/?utm_source=chatgpt.com"/>
              </a:rPr>
              <a:t>OpenCV Documentation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7470" y="7886319"/>
            <a:ext cx="170186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[3] Image Data → Publicly available web images,manually collected and annotated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2919" y="8509737"/>
            <a:ext cx="133858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[4] Roboflow → </a:t>
            </a: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roboflow.com/?utm_source=chatgpt.com"/>
              </a:rPr>
              <a:t>Roboflow Dataset Annotation &amp; Training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DAHTynzj2Ak</dc:identifier>
  <dcterms:modified xsi:type="dcterms:W3CDTF">2011-08-01T06:04:30Z</dcterms:modified>
  <cp:revision>1</cp:revision>
  <dc:title>Presentation.pptx</dc:title>
</cp:coreProperties>
</file>